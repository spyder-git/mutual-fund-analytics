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utual_Fund_Analytics_New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623620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FINAL DATA ANALYSIS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236208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Bluestock Fintech Data Analytics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64008" cy="123444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216151"/>
            <a:ext cx="1783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SCHEMES ANALYZED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527048"/>
            <a:ext cx="1783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93391"/>
            <a:ext cx="1783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Core fund master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05156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051560"/>
            <a:ext cx="64008" cy="123444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1216151"/>
            <a:ext cx="1783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NAV 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1527048"/>
            <a:ext cx="1783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46,000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993391"/>
            <a:ext cx="1783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Historical observations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105156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1051560"/>
            <a:ext cx="64008" cy="123444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1216151"/>
            <a:ext cx="1783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DEC-2025 SIP INFLOW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1527048"/>
            <a:ext cx="1783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₹31,002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8" y="1993391"/>
            <a:ext cx="1783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Monthly inflow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105156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1051560"/>
            <a:ext cx="64008" cy="123444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8" y="1216151"/>
            <a:ext cx="1783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DEC-2025 FOLIOS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8" y="1527048"/>
            <a:ext cx="1783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26.12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8" y="1993391"/>
            <a:ext cx="1783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Total folios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105156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38360" y="1051560"/>
            <a:ext cx="64008" cy="123444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9528" y="1216151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INVESTOR TXNS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1527048"/>
            <a:ext cx="15087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32,778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1993391"/>
            <a:ext cx="1508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Transaction records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2606040"/>
            <a:ext cx="201168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642616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WHAT THE DATA SAYS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063240"/>
            <a:ext cx="54864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C2632"/>
                </a:solidFill>
                <a:latin typeface="Aptos"/>
              </a:defRPr>
            </a:pPr>
            <a:r>
              <a:t>•  SIP inflow rises from ₹11,517 crore in Jan-2022 to ₹31,002 crore in Dec-2025 (+169.2%).</a:t>
            </a:r>
          </a:p>
          <a:p>
            <a:pPr>
              <a:spcAft>
                <a:spcPts val="500"/>
              </a:spcAft>
              <a:defRPr sz="1400">
                <a:solidFill>
                  <a:srgbClr val="1C2632"/>
                </a:solidFill>
                <a:latin typeface="Aptos"/>
              </a:defRPr>
            </a:pPr>
            <a:r>
              <a:t>•  Total folios rise from 13.26 crore to 26.12 crore (+97.0%) over the same endpoints.</a:t>
            </a:r>
          </a:p>
          <a:p>
            <a:pPr>
              <a:spcAft>
                <a:spcPts val="500"/>
              </a:spcAft>
              <a:defRPr sz="1400">
                <a:solidFill>
                  <a:srgbClr val="1C2632"/>
                </a:solidFill>
                <a:latin typeface="Aptos"/>
              </a:defRPr>
            </a:pPr>
            <a:r>
              <a:t>•  Return leadership and risk-adjusted leadership are different: SBI Small Cap leads 3-year return, while ICICI Pru Liquid leads Sharpe.</a:t>
            </a:r>
          </a:p>
          <a:p>
            <a:pPr>
              <a:spcAft>
                <a:spcPts val="500"/>
              </a:spcAft>
              <a:defRPr sz="1400">
                <a:solidFill>
                  <a:srgbClr val="1C2632"/>
                </a:solidFill>
                <a:latin typeface="Aptos"/>
              </a:defRPr>
            </a:pPr>
            <a:r>
              <a:t>•  Downside risk is material in several small-cap schemes; the largest detailed drawdown is −52.57%.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2606040"/>
            <a:ext cx="192024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642616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CORE MESSAGE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3063240"/>
            <a:ext cx="5074920" cy="2514600"/>
          </a:xfrm>
          <a:prstGeom prst="round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3429000"/>
            <a:ext cx="4389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Growth is strong,</a:t>
            </a:r>
            <a:br/>
            <a:r>
              <a:t>but selection requires a</a:t>
            </a:r>
            <a:br/>
            <a:r>
              <a:t>risk-aware lens.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80060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CE5F0"/>
                </a:solidFill>
                <a:latin typeface="Aptos"/>
              </a:defRPr>
            </a:pPr>
            <a:r>
              <a:t>Use return + Sharpe/Sortino + alpha + drawdown + concentration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210312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42416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C2632"/>
                </a:solidFill>
                <a:latin typeface="Aptos"/>
              </a:defRPr>
            </a:pPr>
            <a:r>
              <a:t>Mutual-fund analysis spans scheme characteristics, NAV history, AUM, SIP flows, investor transactions, portfolio holdings and benchmarks. The challenge is to connect these views while preserving data quality and decision usefulness.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05840"/>
            <a:ext cx="192024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042416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ANALYTICAL GOALS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444752"/>
            <a:ext cx="329184" cy="329184"/>
          </a:xfrm>
          <a:prstGeom prst="ellipse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95044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435608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632"/>
                </a:solidFill>
                <a:latin typeface="Aptos"/>
              </a:defRPr>
            </a:pPr>
            <a:r>
              <a:t>Build a repeatable ingestion, cleaning and validation workflow.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157984"/>
            <a:ext cx="329184" cy="329184"/>
          </a:xfrm>
          <a:prstGeom prst="ellipse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08276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148840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632"/>
                </a:solidFill>
                <a:latin typeface="Aptos"/>
              </a:defRPr>
            </a:pPr>
            <a:r>
              <a:t>Compare schemes using return, risk-adjusted and benchmark-relative measures.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871216"/>
            <a:ext cx="329184" cy="329184"/>
          </a:xfrm>
          <a:prstGeom prst="ellipse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21508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862072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632"/>
                </a:solidFill>
                <a:latin typeface="Aptos"/>
              </a:defRPr>
            </a:pPr>
            <a:r>
              <a:t>Assess downside risk with drawdown, VaR and CVaR.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584448"/>
            <a:ext cx="329184" cy="329184"/>
          </a:xfrm>
          <a:prstGeom prst="ellipse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34740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575304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632"/>
                </a:solidFill>
                <a:latin typeface="Aptos"/>
              </a:defRPr>
            </a:pPr>
            <a:r>
              <a:t>Analyze investor cohorts and SIP continuity.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4297680"/>
            <a:ext cx="329184" cy="329184"/>
          </a:xfrm>
          <a:prstGeom prst="ellipse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347972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288536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632"/>
                </a:solidFill>
                <a:latin typeface="Aptos"/>
              </a:defRPr>
            </a:pPr>
            <a:r>
              <a:t>Measure sector concentration with HHI.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5010912"/>
            <a:ext cx="329184" cy="329184"/>
          </a:xfrm>
          <a:prstGeom prst="ellipse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061204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001768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632"/>
                </a:solidFill>
                <a:latin typeface="Aptos"/>
              </a:defRPr>
            </a:pPr>
            <a:r>
              <a:t>Translate findings into a simple recommender and Power BI dashboard.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886200"/>
            <a:ext cx="210312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22776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KEY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15968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632"/>
                </a:solidFill>
                <a:latin typeface="Aptos"/>
              </a:defRPr>
            </a:pPr>
            <a:r>
              <a:t>•  How did AUM, SIP inflows and folio counts change across the supplied periods?</a:t>
            </a:r>
          </a:p>
          <a:p>
            <a:pPr>
              <a:spcAft>
                <a:spcPts val="500"/>
              </a:spcAft>
              <a:defRPr sz="1300">
                <a:solidFill>
                  <a:srgbClr val="1C2632"/>
                </a:solidFill>
                <a:latin typeface="Aptos"/>
              </a:defRPr>
            </a:pPr>
            <a:r>
              <a:t>•  Which schemes lead on 3-year return, Sharpe, alpha and composite score?</a:t>
            </a:r>
          </a:p>
          <a:p>
            <a:pPr>
              <a:spcAft>
                <a:spcPts val="500"/>
              </a:spcAft>
              <a:defRPr sz="1300">
                <a:solidFill>
                  <a:srgbClr val="1C2632"/>
                </a:solidFill>
                <a:latin typeface="Aptos"/>
              </a:defRPr>
            </a:pPr>
            <a:r>
              <a:t>•  Where does downside risk appear highest, and what does investor continuity look like?</a:t>
            </a:r>
          </a:p>
          <a:p>
            <a:pPr>
              <a:spcAft>
                <a:spcPts val="500"/>
              </a:spcAft>
              <a:defRPr sz="1300">
                <a:solidFill>
                  <a:srgbClr val="1C2632"/>
                </a:solidFill>
                <a:latin typeface="Aptos"/>
              </a:defRPr>
            </a:pPr>
            <a:r>
              <a:t>•  Which portfolio exposures show comparatively high sector concentration?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Dataset Overview &amp; Analytical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60120"/>
            <a:ext cx="2057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960120"/>
            <a:ext cx="64008" cy="11887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247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CORE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435608"/>
            <a:ext cx="1737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0195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Analytical CSV families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960120"/>
            <a:ext cx="2057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960120"/>
            <a:ext cx="64008" cy="11887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11247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SQLITE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1435608"/>
            <a:ext cx="1737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87,533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190195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Loaded analytical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960120"/>
            <a:ext cx="2057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960120"/>
            <a:ext cx="64008" cy="11887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11247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SCHEME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1435608"/>
            <a:ext cx="1737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190195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One record per scheme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960120"/>
            <a:ext cx="2057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960120"/>
            <a:ext cx="64008" cy="11887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11247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PORTFOLIO HOLDINGS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1435608"/>
            <a:ext cx="1737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322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190195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Holdings records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960120"/>
            <a:ext cx="2057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55480" y="960120"/>
            <a:ext cx="64008" cy="11887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112471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BENCHMARK 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1435608"/>
            <a:ext cx="1737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8,050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190195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Historical benchmark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2788920"/>
            <a:ext cx="1691640" cy="777240"/>
          </a:xfrm>
          <a:prstGeom prst="roundRect">
            <a:avLst/>
          </a:prstGeom>
          <a:solidFill>
            <a:srgbClr val="0A1F3A"/>
          </a:solidFill>
          <a:ln>
            <a:solidFill>
              <a:srgbClr val="D6A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29718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Raw CSVs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2888" y="2990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D6A04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278892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6A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29718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F3A"/>
                </a:solidFill>
                <a:latin typeface="Aptos"/>
              </a:defRPr>
            </a:pPr>
            <a:r>
              <a:t>Cleaning &amp; QA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2990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D6A04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57800" y="2788920"/>
            <a:ext cx="1691640" cy="777240"/>
          </a:xfrm>
          <a:prstGeom prst="roundRect">
            <a:avLst/>
          </a:prstGeom>
          <a:solidFill>
            <a:srgbClr val="0A1F3A"/>
          </a:solidFill>
          <a:ln>
            <a:solidFill>
              <a:srgbClr val="D6A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29718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3448" y="2990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D6A04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0" y="278892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6A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0" y="29718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F3A"/>
                </a:solidFill>
                <a:latin typeface="Aptos"/>
              </a:defRPr>
            </a:pPr>
            <a:r>
              <a:t>EDA + 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8" y="2990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D6A04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0" y="2788920"/>
            <a:ext cx="1691640" cy="777240"/>
          </a:xfrm>
          <a:prstGeom prst="roundRect">
            <a:avLst/>
          </a:prstGeom>
          <a:solidFill>
            <a:srgbClr val="0A1F3A"/>
          </a:solidFill>
          <a:ln>
            <a:solidFill>
              <a:srgbClr val="D6A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60" y="29718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069080"/>
            <a:ext cx="201168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105656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4805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632"/>
                </a:solidFill>
                <a:latin typeface="Aptos"/>
              </a:defRPr>
            </a:pPr>
            <a:r>
              <a:t>•  NAV + benchmark history: Jan-2022 to May-2026.</a:t>
            </a:r>
          </a:p>
          <a:p>
            <a:pPr>
              <a:spcAft>
                <a:spcPts val="500"/>
              </a:spcAft>
              <a:defRPr sz="1200">
                <a:solidFill>
                  <a:srgbClr val="1C2632"/>
                </a:solidFill>
                <a:latin typeface="Aptos"/>
              </a:defRPr>
            </a:pPr>
            <a:r>
              <a:t>•  AUM, SIP inflows and folios: through Dec-2025.</a:t>
            </a:r>
          </a:p>
          <a:p>
            <a:pPr>
              <a:spcAft>
                <a:spcPts val="500"/>
              </a:spcAft>
              <a:defRPr sz="1200">
                <a:solidFill>
                  <a:srgbClr val="1C2632"/>
                </a:solidFill>
                <a:latin typeface="Aptos"/>
              </a:defRPr>
            </a:pPr>
            <a:r>
              <a:t>•  Investor transactions: Jan-2024 to May-2025.</a:t>
            </a:r>
          </a:p>
          <a:p>
            <a:pPr>
              <a:spcAft>
                <a:spcPts val="500"/>
              </a:spcAft>
              <a:defRPr sz="1200">
                <a:solidFill>
                  <a:srgbClr val="1C2632"/>
                </a:solidFill>
                <a:latin typeface="Aptos"/>
              </a:defRPr>
            </a:pPr>
            <a:r>
              <a:t>•  Portfolio holdings snapshot: 31 Dec 2025.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4069080"/>
            <a:ext cx="210312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105656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IMPORTANT VARIABLES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4805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632"/>
                </a:solidFill>
                <a:latin typeface="Aptos"/>
              </a:defRPr>
            </a:pPr>
            <a:r>
              <a:t>•  Scheme: category, plan, risk, expense ratio, benchmark.</a:t>
            </a:r>
          </a:p>
          <a:p>
            <a:pPr>
              <a:spcAft>
                <a:spcPts val="500"/>
              </a:spcAft>
              <a:defRPr sz="1200">
                <a:solidFill>
                  <a:srgbClr val="1C2632"/>
                </a:solidFill>
                <a:latin typeface="Aptos"/>
              </a:defRPr>
            </a:pPr>
            <a:r>
              <a:t>•  Performance: return, alpha, beta, Sharpe, Sortino, volatility, drawdown.</a:t>
            </a:r>
          </a:p>
          <a:p>
            <a:pPr>
              <a:spcAft>
                <a:spcPts val="500"/>
              </a:spcAft>
              <a:defRPr sz="1200">
                <a:solidFill>
                  <a:srgbClr val="1C2632"/>
                </a:solidFill>
                <a:latin typeface="Aptos"/>
              </a:defRPr>
            </a:pPr>
            <a:r>
              <a:t>•  Investor: transaction type, amount, state, city tier, age, gender, KYC.</a:t>
            </a:r>
          </a:p>
          <a:p>
            <a:pPr>
              <a:spcAft>
                <a:spcPts val="500"/>
              </a:spcAft>
              <a:defRPr sz="1200">
                <a:solidFill>
                  <a:srgbClr val="1C2632"/>
                </a:solidFill>
                <a:latin typeface="Aptos"/>
              </a:defRPr>
            </a:pPr>
            <a:r>
              <a:t>•  Portfolio: sector, weight and market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Data Cleaning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960120"/>
            <a:ext cx="210312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96696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SUPPORTED TRANSFORMATIONS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10835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NAV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545336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632"/>
                </a:solidFill>
                <a:latin typeface="Aptos"/>
              </a:defRPr>
            </a:pPr>
            <a:r>
              <a:t>Date conversion, sorting, duplicate removal, forward-fill within scheme, positive-NAV filter.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68880"/>
            <a:ext cx="10835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3347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Investor 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596896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632"/>
                </a:solidFill>
                <a:latin typeface="Aptos"/>
              </a:defRPr>
            </a:pPr>
            <a:r>
              <a:t>Standardize transaction type/KYC; keep supported types; positive amounts; deduplicate.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39"/>
            <a:ext cx="10835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85031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Scheme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648456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632"/>
                </a:solidFill>
                <a:latin typeface="Aptos"/>
              </a:defRPr>
            </a:pPr>
            <a:r>
              <a:t>Numeric coercion of performance/risk fields; duplicate removal.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72000"/>
            <a:ext cx="108356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3659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Other core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700016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632"/>
                </a:solidFill>
                <a:latin typeface="Aptos"/>
              </a:defRPr>
            </a:pPr>
            <a:r>
              <a:t>Deduplication and date/month conversion where applicable.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69280"/>
            <a:ext cx="182880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0585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65099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9875B"/>
                </a:solidFill>
                <a:latin typeface="Aptos"/>
              </a:defRPr>
            </a:pPr>
            <a:r>
              <a:t>40 fund-master AMFI codes; all represented in NAV history; project README records the pipeline validation as passed.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Exploratory Data Analysis — Market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7" name="Picture 6" descr="aum_growth_2022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518579"/>
            <a:ext cx="5486400" cy="2540681"/>
          </a:xfrm>
          <a:prstGeom prst="rect">
            <a:avLst/>
          </a:prstGeom>
        </p:spPr>
      </p:pic>
      <p:pic>
        <p:nvPicPr>
          <p:cNvPr id="8" name="Picture 7" descr="sip_inflow_trend_2022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40180"/>
            <a:ext cx="5394960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7200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AUM growth by fund house, 2022–2025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572000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Monthly SIP inflow trend, Jan-2022 to Dec-2025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074920"/>
            <a:ext cx="64008" cy="9601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23951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SIP INFLOW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550408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+169.2%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601675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₹11,517 cr → ₹31,002 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07492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5074920"/>
            <a:ext cx="64008" cy="9601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523951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SBI MF AUM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5550408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₹12.50 lakh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601675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Dec-2025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07492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5074920"/>
            <a:ext cx="64008" cy="9601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523951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MARKET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5550408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Sustained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601675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Systematic investing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Investor Participation &amp;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7" name="Picture 6" descr="age_group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97" y="1005840"/>
            <a:ext cx="2965724" cy="3063240"/>
          </a:xfrm>
          <a:prstGeom prst="rect">
            <a:avLst/>
          </a:prstGeom>
        </p:spPr>
      </p:pic>
      <p:pic>
        <p:nvPicPr>
          <p:cNvPr id="8" name="Picture 7" descr="gende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791" y="1005840"/>
            <a:ext cx="2938817" cy="3063240"/>
          </a:xfrm>
          <a:prstGeom prst="rect">
            <a:avLst/>
          </a:prstGeom>
        </p:spPr>
      </p:pic>
      <p:pic>
        <p:nvPicPr>
          <p:cNvPr id="9" name="Picture 8" descr="folio_count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674387"/>
            <a:ext cx="3474720" cy="1726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160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Age-group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16052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Gender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16052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Total folio count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091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709160"/>
            <a:ext cx="64008" cy="105156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873752"/>
            <a:ext cx="2926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LARGEST AGE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18464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26–35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65099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Most represented segment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47091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4709160"/>
            <a:ext cx="64008" cy="105156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4873752"/>
            <a:ext cx="2926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MALE TRANSACTION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518464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66.5%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565099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Transaction 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4709160"/>
            <a:ext cx="3703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709160"/>
            <a:ext cx="64008" cy="105156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4873752"/>
            <a:ext cx="3383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FOLIO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184648"/>
            <a:ext cx="3383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+97.0%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8" y="5650992"/>
            <a:ext cx="3383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13.26 cr → 26.12 cr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Detailed Analysis — Fund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7" name="Picture 6" descr="cagr_3ye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78616"/>
            <a:ext cx="6492240" cy="32149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96596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088136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RETURN LEADERS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55448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632"/>
                </a:solidFill>
                <a:latin typeface="Aptos"/>
              </a:defRPr>
            </a:pPr>
            <a:r>
              <a:t>SBI Small Cap — Regular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1554480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0A1F3A"/>
                </a:solidFill>
                <a:latin typeface="Aptos"/>
              </a:defRPr>
            </a:pPr>
            <a:r>
              <a:t>23.39%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9456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632"/>
                </a:solidFill>
                <a:latin typeface="Aptos"/>
              </a:defRPr>
            </a:pPr>
            <a:r>
              <a:t>SBI Small Cap — 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2194560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0A1F3A"/>
                </a:solidFill>
                <a:latin typeface="Aptos"/>
              </a:defRPr>
            </a:pPr>
            <a:r>
              <a:t>23.14%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834639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632"/>
                </a:solidFill>
                <a:latin typeface="Aptos"/>
              </a:defRPr>
            </a:pPr>
            <a:r>
              <a:t>ABSL Small Cap — Regular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2834639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0A1F3A"/>
                </a:solidFill>
                <a:latin typeface="Aptos"/>
              </a:defRPr>
            </a:pPr>
            <a:r>
              <a:t>22.38%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7472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632"/>
                </a:solidFill>
                <a:latin typeface="Aptos"/>
              </a:defRPr>
            </a:pPr>
            <a:r>
              <a:t>Axis Small Cap — Regular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3474720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0A1F3A"/>
                </a:solidFill>
                <a:latin typeface="Aptos"/>
              </a:defRPr>
            </a:pPr>
            <a:r>
              <a:t>20.98%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11480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632"/>
                </a:solidFill>
                <a:latin typeface="Aptos"/>
              </a:defRPr>
            </a:pPr>
            <a:r>
              <a:t>Nippon India Small Cap — Regular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4114800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0A1F3A"/>
                </a:solidFill>
                <a:latin typeface="Aptos"/>
              </a:defRPr>
            </a:pPr>
            <a:r>
              <a:t>20.15%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892040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632"/>
                </a:solidFill>
                <a:latin typeface="Aptos"/>
              </a:defRPr>
            </a:pPr>
            <a:r>
              <a:t>Mean 3-year return: 14.09%</a:t>
            </a:r>
            <a:br/>
            <a:r>
              <a:t>Mean benchmark 3-year return: 12.84%</a:t>
            </a:r>
            <a:br/>
            <a:r>
              <a:t>Mean alpha: 1.25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Detailed Analysis — Risk-Adjusted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7" name="Picture 6" descr="sharpe_ratio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7158"/>
            <a:ext cx="5486400" cy="2729282"/>
          </a:xfrm>
          <a:prstGeom prst="rect">
            <a:avLst/>
          </a:prstGeom>
        </p:spPr>
      </p:pic>
      <p:pic>
        <p:nvPicPr>
          <p:cNvPr id="8" name="Picture 7" descr="sortino_ratio_t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29902"/>
            <a:ext cx="5394960" cy="26837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02920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Top schemes by Sharpe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5029200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Top schemes by Sortino ratio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486400"/>
            <a:ext cx="64008" cy="77724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650992"/>
            <a:ext cx="2926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MAX SHARPE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96188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7.68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642823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ICICI Pru Liquid — Regular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548640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5486400"/>
            <a:ext cx="64008" cy="77724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5650992"/>
            <a:ext cx="2926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MAX SORTINO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596188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10.37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642823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ICICI Pru Liquid — Regular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548640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5486400"/>
            <a:ext cx="64008" cy="77724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5650992"/>
            <a:ext cx="2926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MAX ALPHA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596188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1.98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642823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HDFC Short Term Debt — Regular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Detailed Analysis — Downside &amp; Tail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max_drawdow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13321"/>
            <a:ext cx="5852160" cy="28998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20840" y="1005840"/>
            <a:ext cx="201168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042416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LARGEST DRAWDOWNS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53619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632"/>
                </a:solidFill>
                <a:latin typeface="Aptos"/>
              </a:defRPr>
            </a:pPr>
            <a:r>
              <a:t>SBI Small Cap — Direct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15361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B84646"/>
                </a:solidFill>
                <a:latin typeface="Aptos"/>
              </a:defRPr>
            </a:pPr>
            <a:r>
              <a:t>−52.6%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3969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632"/>
                </a:solidFill>
                <a:latin typeface="Aptos"/>
              </a:defRPr>
            </a:pPr>
            <a:r>
              <a:t>Axis Small Cap — Regular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139696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B84646"/>
                </a:solidFill>
                <a:latin typeface="Aptos"/>
              </a:defRPr>
            </a:pPr>
            <a:r>
              <a:t>−51.7%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632"/>
                </a:solidFill>
                <a:latin typeface="Aptos"/>
              </a:defRPr>
            </a:pPr>
            <a:r>
              <a:t>ABSL Small Cap — Regular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74320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B84646"/>
                </a:solidFill>
                <a:latin typeface="Aptos"/>
              </a:defRPr>
            </a:pPr>
            <a:r>
              <a:t>−35.4%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46704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632"/>
                </a:solidFill>
                <a:latin typeface="Aptos"/>
              </a:defRPr>
            </a:pPr>
            <a:r>
              <a:t>DSP Small Cap — Regular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34670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B84646"/>
                </a:solidFill>
                <a:latin typeface="Aptos"/>
              </a:defRPr>
            </a:pPr>
            <a:r>
              <a:t>−31.2%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95020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632"/>
                </a:solidFill>
                <a:latin typeface="Aptos"/>
              </a:defRPr>
            </a:pPr>
            <a:r>
              <a:t>SBI Small Cap — Regular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95020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B84646"/>
                </a:solidFill>
                <a:latin typeface="Aptos"/>
              </a:defRPr>
            </a:pPr>
            <a:r>
              <a:t>−28.7%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709160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632"/>
                </a:solidFill>
                <a:latin typeface="Aptos"/>
              </a:defRPr>
            </a:pPr>
            <a:r>
              <a:t>Worst daily VaR 95% ≈ −2.69%</a:t>
            </a:r>
            <a:br/>
            <a:r>
              <a:t>Corresponding CVaR ≈ −3.24%</a:t>
            </a:r>
            <a:br/>
            <a:r>
              <a:t>Tail losses exceed the VaR threshold by construction.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Benchmark, Correlation &amp; Portfolio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7" name="Picture 6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44503"/>
            <a:ext cx="5440680" cy="2705953"/>
          </a:xfrm>
          <a:prstGeom prst="rect">
            <a:avLst/>
          </a:prstGeom>
        </p:spPr>
      </p:pic>
      <p:pic>
        <p:nvPicPr>
          <p:cNvPr id="8" name="Picture 7" descr="nav_return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772" y="960120"/>
            <a:ext cx="3981815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480560"/>
            <a:ext cx="5440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Selected fund vs NIFTY 50 / NIFTY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480560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Return correlation among selected schemes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37760"/>
            <a:ext cx="3383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937760"/>
            <a:ext cx="64008" cy="91440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510235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TRACKING ERROR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5413248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0.1333–0.2867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87959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Five selected SBI schemes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937760"/>
            <a:ext cx="3383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4937760"/>
            <a:ext cx="64008" cy="91440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510235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HIGHEST EQUITY HHI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5413248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2967.69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587959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Axis Bluechip — Regular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937760"/>
            <a:ext cx="3383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4937760"/>
            <a:ext cx="64008" cy="91440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510235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SECTOR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5413248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Financials + IT + Healthcare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587959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Concentration matters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SIP Behaviour, Market Trends &amp; Continuity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7" name="Picture 6" descr="category_inflow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46003"/>
            <a:ext cx="5349240" cy="2457233"/>
          </a:xfrm>
          <a:prstGeom prst="rect">
            <a:avLst/>
          </a:prstGeom>
        </p:spPr>
      </p:pic>
      <p:pic>
        <p:nvPicPr>
          <p:cNvPr id="8" name="Picture 7" descr="sip_amount_by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31" y="1005840"/>
            <a:ext cx="5028177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434840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Category-wise monthly net inflow heatmap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434840"/>
            <a:ext cx="5440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SIP amount by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9204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892040"/>
            <a:ext cx="64008" cy="100584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5056631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SIP INVESTORS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5367527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4,762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83387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Unique SIP investors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89204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4892040"/>
            <a:ext cx="64008" cy="100584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5056631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ELIGIBLE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5367527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1,362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583387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≥ 6 SIP transactions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89204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4892040"/>
            <a:ext cx="64008" cy="1005840"/>
          </a:xfrm>
          <a:prstGeom prst="rect">
            <a:avLst/>
          </a:prstGeom>
          <a:solidFill>
            <a:srgbClr val="B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5056631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37080"/>
                </a:solidFill>
                <a:latin typeface="Aptos"/>
              </a:defRPr>
            </a:pPr>
            <a:r>
              <a:t>AT-RISK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5367527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1F3A"/>
                </a:solidFill>
                <a:latin typeface="Aptos"/>
              </a:defRPr>
            </a:pPr>
            <a:r>
              <a:t>1,332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583387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97.80% under &gt;35-day rule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Advanced Analytics &amp; Recommendation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7" name="Picture 6" descr="fund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94652"/>
            <a:ext cx="5349240" cy="2651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5262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90-day rolling Sharpe — five selected key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526280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Composite fund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892040"/>
            <a:ext cx="201168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28616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RECOMMENDER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85232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632"/>
                </a:solidFill>
                <a:latin typeface="Aptos"/>
              </a:defRPr>
            </a:pPr>
            <a:r>
              <a:t>•  Accepts Low / Moderate / High risk appetite.</a:t>
            </a:r>
          </a:p>
          <a:p>
            <a:pPr>
              <a:spcAft>
                <a:spcPts val="500"/>
              </a:spcAft>
              <a:defRPr sz="1100">
                <a:solidFill>
                  <a:srgbClr val="1C2632"/>
                </a:solidFill>
                <a:latin typeface="Aptos"/>
              </a:defRPr>
            </a:pPr>
            <a:r>
              <a:t>•  Filters by risk category, then ranks by Sharpe and returns top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892040"/>
            <a:ext cx="182880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92861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TOP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285232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A1F3A"/>
                </a:solidFill>
                <a:latin typeface="Aptos"/>
              </a:defRPr>
            </a:pPr>
            <a:r>
              <a:t>ICICI Pru Midcap — Regular: 79.49</a:t>
            </a:r>
            <a:br/>
            <a:r>
              <a:t>Kotak Flexicap — Regular: 78.46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Power BI Reporting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7" name="Picture 6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937" y="1005840"/>
            <a:ext cx="4011805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273552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Industry Overview</a:t>
            </a:r>
          </a:p>
        </p:txBody>
      </p:sp>
      <p:pic>
        <p:nvPicPr>
          <p:cNvPr id="9" name="Picture 8" descr="Page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128" y="1005840"/>
            <a:ext cx="3905103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3273552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Fund Performance</a:t>
            </a:r>
          </a:p>
        </p:txBody>
      </p:sp>
      <p:pic>
        <p:nvPicPr>
          <p:cNvPr id="11" name="Picture 10" descr="Page3_Investor_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27" y="3657600"/>
            <a:ext cx="3869024" cy="2240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925312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Investor Analytics</a:t>
            </a:r>
          </a:p>
        </p:txBody>
      </p:sp>
      <p:pic>
        <p:nvPicPr>
          <p:cNvPr id="13" name="Picture 12" descr="Page4_SIP_Market_Tre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8104" y="3657600"/>
            <a:ext cx="3883152" cy="2240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925312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37080"/>
                </a:solidFill>
                <a:latin typeface="Aptos"/>
              </a:defRPr>
            </a:pPr>
            <a:r>
              <a:t>SIP &amp; Market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0936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37080"/>
                </a:solidFill>
                <a:latin typeface="Aptos"/>
              </a:defRPr>
            </a:pPr>
            <a:r>
              <a:t>Four principal dashboard pages provide the interactive presentation layer; underlying metrics remain traceable to the supplied CSVs and notebooks.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051560"/>
            <a:ext cx="502920" cy="502920"/>
          </a:xfrm>
          <a:prstGeom prst="ellipse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612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0515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SIP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99031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D6A042"/>
                </a:solidFill>
                <a:latin typeface="Aptos"/>
              </a:defRPr>
            </a:pPr>
            <a:r>
              <a:t>₹11,517 cr → ₹31,002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01367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169.2% growth in monthly SIP inflow.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614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517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Folio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99923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D6A042"/>
                </a:solidFill>
                <a:latin typeface="Aptos"/>
              </a:defRPr>
            </a:pPr>
            <a:r>
              <a:t>13.26 cr → 26.12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01568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97.0% growth in total folios.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616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519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Return 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9943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D6A042"/>
                </a:solidFill>
                <a:latin typeface="Aptos"/>
              </a:defRPr>
            </a:pPr>
            <a:r>
              <a:t>23.39%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001768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SBI Small Cap — Regular leads 3-year return.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1051560"/>
            <a:ext cx="502920" cy="502920"/>
          </a:xfrm>
          <a:prstGeom prst="ellipse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612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0515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Risk-adjusted leadership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1399031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D6A042"/>
                </a:solidFill>
                <a:latin typeface="Aptos"/>
              </a:defRPr>
            </a:pPr>
            <a:r>
              <a:t>Sharpe 7.68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801367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ICICI Pru Liquid — Regular leads Sharpe.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2651760"/>
            <a:ext cx="502920" cy="502920"/>
          </a:xfrm>
          <a:prstGeom prst="ellipse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7614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6517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Tail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99923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D6A042"/>
                </a:solidFill>
                <a:latin typeface="Aptos"/>
              </a:defRPr>
            </a:pPr>
            <a:r>
              <a:t>−52.57%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401568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Largest detailed drawdown: SBI Small Cap — Direct.</a:t>
            </a:r>
          </a:p>
        </p:txBody>
      </p:sp>
      <p:sp>
        <p:nvSpPr>
          <p:cNvPr id="32" name="Oval 31"/>
          <p:cNvSpPr/>
          <p:nvPr/>
        </p:nvSpPr>
        <p:spPr>
          <a:xfrm>
            <a:off x="6309360" y="4251960"/>
            <a:ext cx="502920" cy="502920"/>
          </a:xfrm>
          <a:prstGeom prst="ellipse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3616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2519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SIP continuity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59943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D6A042"/>
                </a:solidFill>
                <a:latin typeface="Aptos"/>
              </a:defRPr>
            </a:pPr>
            <a:r>
              <a:t>97.80% at-risk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001768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1,332 of 1,362 eligible investors.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D6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3A"/>
                </a:solidFill>
                <a:latin typeface="Aptos Display"/>
              </a:defRPr>
            </a:pPr>
            <a:r>
              <a:t>Insights, Recommendations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6A04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0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0584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70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6A04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14300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Strengthen SIP continuity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08760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Use the &gt;35-day average-gap rule as a retention watchlist.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2316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877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6A04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6032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Separate return and risk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26080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Combine return, Sharpe/Sortino, alpha and drawdown.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4048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0507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6A04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7764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Monitor concentration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43400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Use HHI with sector weights, especially where drawdown is high.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00584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170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6A04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14300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Use benchmark-relative measures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508760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Track alpha, beta and tracking error with absolute returns.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42316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5877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6A04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56032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Segment investor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926080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Use age, city tier, state and payment mode descriptively.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84048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00507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6A04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97764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3A"/>
                </a:solidFill>
                <a:latin typeface="Aptos"/>
              </a:defRPr>
            </a:pPr>
            <a:r>
              <a:t>Preserve pipeline traceability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343400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C2632"/>
                </a:solidFill>
                <a:latin typeface="Aptos"/>
              </a:defRPr>
            </a:pPr>
            <a:r>
              <a:t>Maintain ingestion → cleaning → validation → SQLite → analytics → Power BI.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440680"/>
            <a:ext cx="1828800" cy="320040"/>
          </a:xfrm>
          <a:prstGeom prst="roundRect">
            <a:avLst/>
          </a:prstGeom>
          <a:solidFill>
            <a:srgbClr val="F9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47725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A1F3A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5413248"/>
            <a:ext cx="8686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632"/>
                </a:solidFill>
                <a:latin typeface="Aptos"/>
              </a:defRPr>
            </a:pPr>
            <a:r>
              <a:t>Predictive churn modelling • rolling downside monitoring • joint concentration/drawdown analysis • automated dashboard refresh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07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E6EDF5"/>
                </a:solidFill>
                <a:latin typeface="Aptos"/>
              </a:defRPr>
            </a:pPr>
            <a:r>
              <a:t>The supplied project shows strong market expansion alongside heterogeneous fund-level performance. The most useful decision lens is not a single ranking: return, risk-adjusted performance, downside risk, benchmark-relative measures and portfolio concentration should be considered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3337560" cy="1508760"/>
          </a:xfrm>
          <a:prstGeom prst="roundRect">
            <a:avLst/>
          </a:prstGeom>
          <a:solidFill>
            <a:srgbClr val="122F52"/>
          </a:solidFill>
          <a:ln>
            <a:solidFill>
              <a:srgbClr val="D6A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6A042"/>
                </a:solidFill>
                <a:latin typeface="Aptos"/>
              </a:defRPr>
            </a:pPr>
            <a: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1188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4164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CE5F0"/>
                </a:solidFill>
                <a:latin typeface="Aptos"/>
              </a:defRPr>
            </a:pPr>
            <a:r>
              <a:t>SIP inflows and folios expanded materially.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063240"/>
            <a:ext cx="3337560" cy="1508760"/>
          </a:xfrm>
          <a:prstGeom prst="roundRect">
            <a:avLst/>
          </a:prstGeom>
          <a:solidFill>
            <a:srgbClr val="122F52"/>
          </a:solidFill>
          <a:ln>
            <a:solidFill>
              <a:srgbClr val="D6A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329184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6A042"/>
                </a:solidFill>
                <a:latin typeface="Aptos"/>
              </a:defRPr>
            </a:pPr>
            <a:r>
              <a:t>SCHEMES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61188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Divergence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404164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CE5F0"/>
                </a:solidFill>
                <a:latin typeface="Aptos"/>
              </a:defRPr>
            </a:pPr>
            <a:r>
              <a:t>Return leaders differ from risk-adjusted leaders.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063240"/>
            <a:ext cx="3337560" cy="1508760"/>
          </a:xfrm>
          <a:prstGeom prst="roundRect">
            <a:avLst/>
          </a:prstGeom>
          <a:solidFill>
            <a:srgbClr val="122F52"/>
          </a:solidFill>
          <a:ln>
            <a:solidFill>
              <a:srgbClr val="D6A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29184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6A042"/>
                </a:solidFill>
                <a:latin typeface="Aptos"/>
              </a:defRPr>
            </a:pPr>
            <a:r>
              <a:t>INVESTORS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61188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04164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CE5F0"/>
                </a:solidFill>
                <a:latin typeface="Aptos"/>
              </a:defRPr>
            </a:pPr>
            <a:r>
              <a:t>SIP continuity is the clearest engagement opportunity.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DD8E6"/>
                </a:solidFill>
                <a:latin typeface="Aptos"/>
              </a:defRPr>
            </a:pPr>
            <a:r>
              <a:t>Limitations: different observation windows, notebook-defined methodology, SIP continuity eligibility rules, and a simple Sharpe-based recommender. Findings are limited to the supplied project ZIP.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807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D6A042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— Final Data Analysis Presentation</dc:title>
  <dc:subject>Data-driven mutual fund performance, investor, SIP, risk and portfolio analysis</dc:subject>
  <dc:creator>Data Analyst</dc:creator>
  <cp:keywords>Mutual Fund Analytics, Power BI, Risk, SIP, Investor Analytics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